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K Grotesk Semi-Bold" charset="1" panose="00000700000000000000"/>
      <p:regular r:id="rId19"/>
    </p:embeddedFont>
    <p:embeddedFont>
      <p:font typeface="HK Grotesk" charset="1" panose="00000500000000000000"/>
      <p:regular r:id="rId20"/>
    </p:embeddedFont>
    <p:embeddedFont>
      <p:font typeface="Noto Serif Display ExtraCondensed Light" charset="1" panose="02020406080505020204"/>
      <p:regular r:id="rId21"/>
    </p:embeddedFont>
    <p:embeddedFont>
      <p:font typeface="HK Grotesk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00C8D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Donation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783455"/>
            <a:ext cx="6886575" cy="4779645"/>
            <a:chOff x="0" y="0"/>
            <a:chExt cx="9182100" cy="63728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255260"/>
              <a:ext cx="91821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0C8D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Software Engineering – CCAS 4.3, University Project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8600"/>
              <a:ext cx="9182100" cy="4157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75"/>
                </a:lnSpc>
              </a:pPr>
              <a:r>
                <a:rPr lang="en-US" sz="11775" spc="-235">
                  <a:solidFill>
                    <a:srgbClr val="00C8D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Charity Management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328588"/>
            <a:ext cx="6886575" cy="3510161"/>
            <a:chOff x="0" y="0"/>
            <a:chExt cx="9182100" cy="46802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Lack of Transparency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19414"/>
              <a:ext cx="9182100" cy="3860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Transparency is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essent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ial for building trust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betwee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donors and charities. Wh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 d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nors lack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clear visibility into how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their contrib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 are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collect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ed,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manag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d, 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u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til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ize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c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fidence in cha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itable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igns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crea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es. Th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uncer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can significantly reduc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don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parti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ipati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long-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 engagement, mak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ng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ranspar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ncy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critical fac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su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cessful fundr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ais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</a:t>
              </a: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3242" y="4226483"/>
            <a:ext cx="6886575" cy="2577468"/>
            <a:chOff x="0" y="0"/>
            <a:chExt cx="9182100" cy="343662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Manual Tracking Errors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23625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Manual tracking can lead to errors in financial reporting and donor communications. An automated system minimizes these risks, ensuring accurate records and fostering stronger relationships with supporters.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Motivation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Addressing Key Issues in Donation Management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15C57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Stakeholders in Our 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Essential contributors seeking impactful charitable opportunities.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Individual Donors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599643"/>
            <a:chOff x="0" y="0"/>
            <a:chExt cx="5346700" cy="2132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Organizations dedicated to making a positive difference.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Charities/Non-Profits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52625"/>
            <a:chOff x="0" y="0"/>
            <a:chExt cx="5346700" cy="26035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Professionals driving campaigns and ensuring success.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Campaign Managers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2819400"/>
            <a:chOff x="0" y="0"/>
            <a:chExt cx="5346700" cy="3759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Centralized Platform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system acts as a </a:t>
              </a:r>
              <a:r>
                <a:rPr lang="en-US" b="true" sz="2109" strike="noStrike" u="none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hub connecting</a:t>
              </a: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donors and charities, facilitating easy interactions and ensuring that contributions reach the intended causes efficiently and transparently.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162300"/>
            <a:chOff x="0" y="0"/>
            <a:chExt cx="5346700" cy="421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Secure Processing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294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prioritize </a:t>
              </a:r>
              <a:r>
                <a:rPr lang="en-US" b="true" sz="2109" strike="noStrike" u="none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secure donation processing</a:t>
              </a: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utilizing advanced encryption and compliance with industry standards to safeguard sensitive donor information and ensure safe transactions throughout the platform.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448050"/>
            <a:chOff x="0" y="0"/>
            <a:chExt cx="5346700" cy="4597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Campaign Management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platform includes comprehensive </a:t>
              </a:r>
              <a:r>
                <a:rPr lang="en-US" b="true" sz="2109" strike="noStrike" u="none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campaign management tools</a:t>
              </a:r>
              <a:r>
                <a:rPr lang="en-US" sz="2109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allow charities to create, manage, and monitor fundraising campaigns, enhancing visibility and engagement with potential donors.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System Overview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 Centralized Donation Platform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115050" y="706444"/>
            <a:ext cx="12172950" cy="8893163"/>
            <a:chOff x="0" y="0"/>
            <a:chExt cx="2181490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4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181490">
                  <a:moveTo>
                    <a:pt x="0" y="0"/>
                  </a:moveTo>
                  <a:lnTo>
                    <a:pt x="2181490" y="0"/>
                  </a:lnTo>
                  <a:lnTo>
                    <a:pt x="21814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826" t="0" r="-482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1743920"/>
            <a:ext cx="5448300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00C8D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Use Case Diagram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5486400"/>
            <a:ext cx="5448300" cy="3238500"/>
            <a:chOff x="0" y="0"/>
            <a:chExt cx="7264400" cy="4318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7264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C8D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System Interactions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39800"/>
              <a:ext cx="72644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C8D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diagram illustrates the interactions between the Donor, Charity Administrator, and System Administrator, highlighting core functionalities and user engagement within the Donation &amp; Charity Management System.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86250"/>
            <a:ext cx="4010025" cy="5934075"/>
            <a:chOff x="0" y="0"/>
            <a:chExt cx="5346700" cy="7912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Must Have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667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Secur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don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pro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ssing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ure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all financial tra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afe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ng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user authentication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prot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ct do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ccoun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gem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Abili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for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donors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tr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ck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manage their contributions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securely</a:t>
              </a: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2056" y="4286250"/>
            <a:ext cx="4010025" cy="6296025"/>
            <a:chOff x="0" y="0"/>
            <a:chExt cx="5346700" cy="83947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Should Have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712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ampaign management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tools to create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monit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 fundraising campaigns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ransparency dashboards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track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pro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gres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orman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Real-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ghts in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how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fund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collected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 ut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zed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Impact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orts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all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donors 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ee 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resul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 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their contributions</a:t>
              </a: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57981" y="4286250"/>
            <a:ext cx="4010025" cy="5600700"/>
            <a:chOff x="0" y="0"/>
            <a:chExt cx="5346700" cy="7467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Could Have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6232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ecurring donation options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llow co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tinuous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upport for causes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ocial media integration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share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ampaigns an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tions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nc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dono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engagement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eas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m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flexible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contribut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ion m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thods</a:t>
              </a:r>
            </a:p>
            <a:p>
              <a:pPr algn="l" marL="479298" indent="-239649" lvl="1">
                <a:lnSpc>
                  <a:spcPts val="26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Enhanced visibility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support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arit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abl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ca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mpaign</a:t>
              </a:r>
              <a:r>
                <a:rPr lang="en-US" sz="222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</a:p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Functional Requirements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Categorizing Essential System Features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12564" y="935971"/>
            <a:ext cx="9755304" cy="8322329"/>
          </a:xfrm>
          <a:custGeom>
            <a:avLst/>
            <a:gdLst/>
            <a:ahLst/>
            <a:cxnLst/>
            <a:rect r="r" b="b" t="t" l="l"/>
            <a:pathLst>
              <a:path h="8322329" w="9755304">
                <a:moveTo>
                  <a:pt x="0" y="0"/>
                </a:moveTo>
                <a:lnTo>
                  <a:pt x="9755304" y="0"/>
                </a:lnTo>
                <a:lnTo>
                  <a:pt x="9755304" y="8322329"/>
                </a:lnTo>
                <a:lnTo>
                  <a:pt x="0" y="8322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73" t="0" r="-42405" b="-6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1743920"/>
            <a:ext cx="5448300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15C57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Database Design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4502979"/>
            <a:ext cx="3875122" cy="4109054"/>
            <a:chOff x="0" y="0"/>
            <a:chExt cx="5166829" cy="54787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5166829" cy="464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4"/>
                </a:lnSpc>
              </a:pPr>
              <a:r>
                <a:rPr lang="en-US" b="true" sz="227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Entity-Relationship Diagram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55431"/>
              <a:ext cx="5166829" cy="47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1759" indent="-210880" lvl="1">
                <a:lnSpc>
                  <a:spcPts val="2344"/>
                </a:lnSpc>
                <a:buFont typeface="Arial"/>
                <a:buChar char="•"/>
              </a:pPr>
              <a:r>
                <a:rPr lang="en-US" sz="1953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Show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the main t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ble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th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sy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</a:t>
              </a:r>
            </a:p>
            <a:p>
              <a:pPr algn="l" marL="421759" indent="-210880" lvl="1">
                <a:lnSpc>
                  <a:spcPts val="2344"/>
                </a:lnSpc>
                <a:buFont typeface="Arial"/>
                <a:buChar char="•"/>
              </a:pP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lains how donors, charities, campaigns, and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onations 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are connected</a:t>
              </a:r>
            </a:p>
            <a:p>
              <a:pPr algn="l" marL="421759" indent="-210880" lvl="1">
                <a:lnSpc>
                  <a:spcPts val="2344"/>
                </a:lnSpc>
                <a:buFont typeface="Arial"/>
                <a:buChar char="•"/>
              </a:pP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Allow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track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ng of one-time and recurr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 d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onations</a:t>
              </a:r>
            </a:p>
            <a:p>
              <a:pPr algn="l" marL="421759" indent="-210880" lvl="1">
                <a:lnSpc>
                  <a:spcPts val="2344"/>
                </a:lnSpc>
                <a:buFont typeface="Arial"/>
                <a:buChar char="•"/>
              </a:pP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elps keep data organized and 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accurate</a:t>
              </a:r>
            </a:p>
            <a:p>
              <a:pPr algn="l" marL="421759" indent="-210880" lvl="1">
                <a:lnSpc>
                  <a:spcPts val="2344"/>
                </a:lnSpc>
                <a:buFont typeface="Arial"/>
                <a:buChar char="•"/>
              </a:pP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Support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reporting a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nsparency 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the</a:t>
              </a:r>
              <a:r>
                <a:rPr lang="en-US" sz="1953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system</a:t>
              </a:r>
            </a:p>
            <a:p>
              <a:pPr algn="l" marL="0" indent="0" lvl="0">
                <a:lnSpc>
                  <a:spcPts val="2344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101628"/>
            <a:ext cx="4010025" cy="4171950"/>
            <a:chOff x="0" y="0"/>
            <a:chExt cx="5346700" cy="5562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Donor Table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431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ores information about don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syste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nclud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donor ID, name, email, and contact details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Helps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ident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fy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ach do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 uniq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ly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Support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secure communication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acking</a:t>
              </a:r>
            </a:p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2056" y="4101628"/>
            <a:ext cx="4010025" cy="4524375"/>
            <a:chOff x="0" y="0"/>
            <a:chExt cx="5346700" cy="6032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Charity Table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474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Stor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nforma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ion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abo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 reg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iste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nclud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charity ID, name, mission statement, and address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Helps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tify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manag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 chari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Supports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org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izing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ring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charit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activit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ies within the system</a:t>
              </a:r>
            </a:p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57981" y="4101628"/>
            <a:ext cx="4010025" cy="4171950"/>
            <a:chOff x="0" y="0"/>
            <a:chExt cx="5346700" cy="5562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Campaign Table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431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Stor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infor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ab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fundraising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mpa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gn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Inclu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campaign ID, title, description,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start/end dates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Links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mpaign 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 rel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ated charity</a:t>
              </a:r>
            </a:p>
            <a:p>
              <a:pPr algn="l" marL="459138" indent="-229569" lvl="1">
                <a:lnSpc>
                  <a:spcPts val="25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ps t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rack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campaign 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ress</a:t>
              </a:r>
              <a:r>
                <a:rPr lang="en-US" sz="2126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performance</a:t>
              </a:r>
            </a:p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Database Schema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Tables and Relationships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5976" y="3771900"/>
            <a:ext cx="14794629" cy="5270587"/>
          </a:xfrm>
          <a:custGeom>
            <a:avLst/>
            <a:gdLst/>
            <a:ahLst/>
            <a:cxnLst/>
            <a:rect r="r" b="b" t="t" l="l"/>
            <a:pathLst>
              <a:path h="5270587" w="14794629">
                <a:moveTo>
                  <a:pt x="0" y="0"/>
                </a:moveTo>
                <a:lnTo>
                  <a:pt x="14794630" y="0"/>
                </a:lnTo>
                <a:lnTo>
                  <a:pt x="14794630" y="5270587"/>
                </a:lnTo>
                <a:lnTo>
                  <a:pt x="0" y="5270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0C8D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Database design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C8D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Demonstrating Database Functionality and Interactions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101155" y="1028700"/>
            <a:ext cx="6096950" cy="2776858"/>
          </a:xfrm>
          <a:custGeom>
            <a:avLst/>
            <a:gdLst/>
            <a:ahLst/>
            <a:cxnLst/>
            <a:rect r="r" b="b" t="t" l="l"/>
            <a:pathLst>
              <a:path h="2776858" w="6096950">
                <a:moveTo>
                  <a:pt x="0" y="0"/>
                </a:moveTo>
                <a:lnTo>
                  <a:pt x="6096950" y="0"/>
                </a:lnTo>
                <a:lnTo>
                  <a:pt x="6096950" y="2776858"/>
                </a:lnTo>
                <a:lnTo>
                  <a:pt x="0" y="277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7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95615" y="3894959"/>
            <a:ext cx="6103656" cy="2800052"/>
          </a:xfrm>
          <a:custGeom>
            <a:avLst/>
            <a:gdLst/>
            <a:ahLst/>
            <a:cxnLst/>
            <a:rect r="r" b="b" t="t" l="l"/>
            <a:pathLst>
              <a:path h="2800052" w="6103656">
                <a:moveTo>
                  <a:pt x="0" y="0"/>
                </a:moveTo>
                <a:lnTo>
                  <a:pt x="6103656" y="0"/>
                </a:lnTo>
                <a:lnTo>
                  <a:pt x="6103656" y="2800052"/>
                </a:lnTo>
                <a:lnTo>
                  <a:pt x="0" y="2800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95615" y="6773582"/>
            <a:ext cx="6010810" cy="2757459"/>
          </a:xfrm>
          <a:custGeom>
            <a:avLst/>
            <a:gdLst/>
            <a:ahLst/>
            <a:cxnLst/>
            <a:rect r="r" b="b" t="t" l="l"/>
            <a:pathLst>
              <a:path h="2757459" w="6010810">
                <a:moveTo>
                  <a:pt x="0" y="0"/>
                </a:moveTo>
                <a:lnTo>
                  <a:pt x="6010810" y="0"/>
                </a:lnTo>
                <a:lnTo>
                  <a:pt x="6010810" y="2757460"/>
                </a:lnTo>
                <a:lnTo>
                  <a:pt x="0" y="2757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15C57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GUI and System Features Overview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interface is designed for seamless navigation.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User-Friendly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Simple forms to facilitate quick and easy donations.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Donation Forms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1225" y="6559904"/>
            <a:ext cx="4010025" cy="1981200"/>
            <a:chOff x="0" y="0"/>
            <a:chExt cx="5346700" cy="2641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93800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Visual metrics for tracking donation campaign performance.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Campaign Dashboards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130621"/>
            <a:ext cx="11501766" cy="4718276"/>
          </a:xfrm>
          <a:custGeom>
            <a:avLst/>
            <a:gdLst/>
            <a:ahLst/>
            <a:cxnLst/>
            <a:rect r="r" b="b" t="t" l="l"/>
            <a:pathLst>
              <a:path h="4718276" w="11501766">
                <a:moveTo>
                  <a:pt x="0" y="0"/>
                </a:moveTo>
                <a:lnTo>
                  <a:pt x="11501766" y="0"/>
                </a:lnTo>
                <a:lnTo>
                  <a:pt x="11501766" y="4718276"/>
                </a:lnTo>
                <a:lnTo>
                  <a:pt x="0" y="471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7" r="0" b="-88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Testing &amp; Validation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115C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Ensuring Quality and Reliability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15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5131506"/>
            <a:ext cx="17819006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C8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6750" y="4912022"/>
            <a:ext cx="438967" cy="4389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8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1575" y="4912022"/>
            <a:ext cx="438967" cy="4389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8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912022"/>
            <a:ext cx="438967" cy="4389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8D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2042" y="4912022"/>
            <a:ext cx="438967" cy="4389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8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1756410"/>
            <a:ext cx="158210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pc="-192" strike="noStrike" u="none">
                <a:solidFill>
                  <a:srgbClr val="00C8D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Project Milestones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C8D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Requirements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893506"/>
            <a:ext cx="28765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C8D8"/>
                </a:solidFill>
                <a:latin typeface="HK Grotesk"/>
                <a:ea typeface="HK Grotesk"/>
                <a:cs typeface="HK Grotesk"/>
                <a:sym typeface="HK Grotesk"/>
              </a:rPr>
              <a:t>Completed initial requirements specification to define project scope and deliverables.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81575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C8D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Development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81575" y="5893506"/>
            <a:ext cx="28765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C8D8"/>
                </a:solidFill>
                <a:latin typeface="HK Grotesk"/>
                <a:ea typeface="HK Grotesk"/>
                <a:cs typeface="HK Grotesk"/>
                <a:sym typeface="HK Grotesk"/>
              </a:rPr>
              <a:t>Developed ERD, schema, and SQL queries to establish core database structure.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6400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C8D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GUI Design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11225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C8D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96400" y="5893506"/>
            <a:ext cx="28765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C8D8"/>
                </a:solidFill>
                <a:latin typeface="HK Grotesk"/>
                <a:ea typeface="HK Grotesk"/>
                <a:cs typeface="HK Grotesk"/>
                <a:sym typeface="HK Grotesk"/>
              </a:rPr>
              <a:t>Created the user-friendly GUI design to enhance user experience and accessibility.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11225" y="5893506"/>
            <a:ext cx="2876550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C8D8"/>
                </a:solidFill>
                <a:latin typeface="HK Grotesk"/>
                <a:ea typeface="HK Grotesk"/>
                <a:cs typeface="HK Grotesk"/>
                <a:sym typeface="HK Grotesk"/>
              </a:rPr>
              <a:t>Conducted comprehensive testing to ensure functionality and performance of the system.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945"/>
            <a:ext cx="5448300" cy="2513755"/>
            <a:chOff x="0" y="0"/>
            <a:chExt cx="7264400" cy="33516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115C57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appreciate your interest in our project and support in donations.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115C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Charity Management</dc:description>
  <dc:identifier>DAG91HmTNqQ</dc:identifier>
  <dcterms:modified xsi:type="dcterms:W3CDTF">2011-08-01T06:04:30Z</dcterms:modified>
  <cp:revision>1</cp:revision>
  <dc:title>Presentation - Charity Management</dc:title>
</cp:coreProperties>
</file>